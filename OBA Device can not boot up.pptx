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76" r:id="rId2"/>
  </p:sldIdLst>
  <p:sldSz cx="12192000" cy="6858000"/>
  <p:notesSz cx="6858000" cy="9144000"/>
  <p:custDataLst>
    <p:tags r:id="rId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1C7BC"/>
    <a:srgbClr val="002F75"/>
    <a:srgbClr val="D00034"/>
    <a:srgbClr val="002F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78" autoAdjust="0"/>
    <p:restoredTop sz="94660" autoAdjust="0"/>
  </p:normalViewPr>
  <p:slideViewPr>
    <p:cSldViewPr snapToGrid="0">
      <p:cViewPr varScale="1">
        <p:scale>
          <a:sx n="109" d="100"/>
          <a:sy n="109" d="100"/>
        </p:scale>
        <p:origin x="624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104" d="100"/>
          <a:sy n="104" d="100"/>
        </p:scale>
        <p:origin x="3439" y="5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BC47B5-ADAF-41B0-8E25-798150F70C66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B33EC7-D770-4470-B266-BEBD01C7444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B33EC7-D770-4470-B266-BEBD01C74447}" type="slidenum">
              <a:rPr lang="zh-CN" altLang="en-US" smtClean="0"/>
              <a:t>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0565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4488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4488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>
            <a:extLst>
              <a:ext uri="{FF2B5EF4-FFF2-40B4-BE49-F238E27FC236}">
                <a16:creationId xmlns:a16="http://schemas.microsoft.com/office/drawing/2014/main" id="{A9E2ACE0-825C-4F79-8642-BE84FC61B9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9644" y="248613"/>
            <a:ext cx="9389882" cy="90842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2F75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kumimoji="1" lang="fr-FR" altLang="zh-CN" sz="3600" b="1" dirty="0">
                <a:solidFill>
                  <a:srgbClr val="002F76"/>
                </a:solidFill>
                <a:latin typeface="+mj-lt"/>
                <a:ea typeface="微软雅黑" panose="020B0503020204020204" pitchFamily="34" charset="-122"/>
              </a:rPr>
              <a:t>main title-font size 30-36</a:t>
            </a:r>
            <a:endParaRPr kumimoji="1" lang="zh-TW" altLang="en-US" sz="3600" b="1" dirty="0">
              <a:solidFill>
                <a:srgbClr val="002F76"/>
              </a:solidFill>
              <a:latin typeface="+mj-lt"/>
              <a:ea typeface="微软雅黑" panose="020B0503020204020204" pitchFamily="34" charset="-122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7BAD028-B37A-4785-A512-67BED2C2282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2569" y="2127243"/>
            <a:ext cx="9389882" cy="4227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0"/>
            </a:lvl2pPr>
            <a:lvl3pPr>
              <a:defRPr sz="1600" b="0"/>
            </a:lvl3pPr>
          </a:lstStyle>
          <a:p>
            <a:r>
              <a:rPr kumimoji="1" lang="en-US" altLang="zh-CN" sz="1600" dirty="0">
                <a:ea typeface="+mj-ea"/>
                <a:sym typeface="等线" panose="02010600030101010101" charset="-122"/>
              </a:rPr>
              <a:t>Text-font size 12-18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412B34D-BA6B-4D79-956A-A1378842414A}"/>
              </a:ext>
            </a:extLst>
          </p:cNvPr>
          <p:cNvSpPr txBox="1"/>
          <p:nvPr userDrawn="1"/>
        </p:nvSpPr>
        <p:spPr>
          <a:xfrm>
            <a:off x="11369675" y="6598738"/>
            <a:ext cx="7258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A0DB2DC-4C9A-4742-B13C-FB6460FD3503}" type="slidenum">
              <a:rPr lang="en-US" altLang="zh-CN" sz="1200" smtClean="0">
                <a:solidFill>
                  <a:schemeClr val="bg1"/>
                </a:solidFill>
                <a:latin typeface="+mn-ea"/>
              </a:rPr>
              <a:t>‹#›</a:t>
            </a:fld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/N</a:t>
            </a:r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>
            <a:extLst>
              <a:ext uri="{FF2B5EF4-FFF2-40B4-BE49-F238E27FC236}">
                <a16:creationId xmlns:a16="http://schemas.microsoft.com/office/drawing/2014/main" id="{87082A3D-08FC-4EF5-9145-7DCFDBB543BD}"/>
              </a:ext>
            </a:extLst>
          </p:cNvPr>
          <p:cNvSpPr/>
          <p:nvPr userDrawn="1"/>
        </p:nvSpPr>
        <p:spPr>
          <a:xfrm>
            <a:off x="2658110" y="1480345"/>
            <a:ext cx="6715760" cy="3652728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lumMod val="75000"/>
                  <a:alpha val="0"/>
                </a:schemeClr>
              </a:gs>
              <a:gs pos="0">
                <a:schemeClr val="accent1">
                  <a:lumMod val="75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A8F0943-FF36-4C0E-9490-A58E4773E013}"/>
              </a:ext>
            </a:extLst>
          </p:cNvPr>
          <p:cNvSpPr txBox="1"/>
          <p:nvPr userDrawn="1"/>
        </p:nvSpPr>
        <p:spPr>
          <a:xfrm>
            <a:off x="3772452" y="2557117"/>
            <a:ext cx="629371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 Black" panose="02000503000000020004" pitchFamily="2" charset="0"/>
                <a:ea typeface="Inter Black" panose="02000503000000020004" pitchFamily="2" charset="0"/>
              </a:rPr>
              <a:t>Thank You</a:t>
            </a:r>
            <a:endParaRPr lang="zh-CN" altLang="en-US" sz="8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nter Black" panose="02000503000000020004" pitchFamily="2" charset="0"/>
              <a:ea typeface="思源黑体 CN Heavy" panose="020B0A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2347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ags" Target="../tags/tag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4178"/>
            <a:ext cx="1041400" cy="579071"/>
          </a:xfrm>
          <a:prstGeom prst="rect">
            <a:avLst/>
          </a:prstGeom>
        </p:spPr>
      </p:pic>
      <p:sp>
        <p:nvSpPr>
          <p:cNvPr id="7" name="标题占位符 4">
            <a:extLst>
              <a:ext uri="{FF2B5EF4-FFF2-40B4-BE49-F238E27FC236}">
                <a16:creationId xmlns:a16="http://schemas.microsoft.com/office/drawing/2014/main" id="{4167A2A2-CCDF-4C00-8E98-450CB9F6C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00" y="337740"/>
            <a:ext cx="9341963" cy="7919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/>
              <a:t>TEXT</a:t>
            </a:r>
            <a:endParaRPr lang="zh-CN" altLang="en-US" dirty="0"/>
          </a:p>
        </p:txBody>
      </p:sp>
      <p:sp>
        <p:nvSpPr>
          <p:cNvPr id="8" name="文本占位符 5">
            <a:extLst>
              <a:ext uri="{FF2B5EF4-FFF2-40B4-BE49-F238E27FC236}">
                <a16:creationId xmlns:a16="http://schemas.microsoft.com/office/drawing/2014/main" id="{A021F5A5-CF7D-4126-8717-14DAAE3BE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1399" y="2055043"/>
            <a:ext cx="9341964" cy="4318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2"/>
            <a:r>
              <a:rPr lang="en-US" altLang="zh-CN" dirty="0"/>
              <a:t>text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  <p:sldLayoutId id="2147483673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思源黑体 CN Heavy" panose="020B0A00000000000000" pitchFamily="34" charset="-122"/>
          <a:ea typeface="思源黑体 CN Heavy" panose="020B0A00000000000000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j-ea"/>
          <a:ea typeface="+mj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j-ea"/>
          <a:ea typeface="+mj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思源黑体 CN Normal" panose="020B0400000000000000" pitchFamily="34" charset="-122"/>
          <a:ea typeface="思源黑体 CN Normal" panose="020B0400000000000000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028323"/>
              </p:ext>
            </p:extLst>
          </p:nvPr>
        </p:nvGraphicFramePr>
        <p:xfrm>
          <a:off x="0" y="879230"/>
          <a:ext cx="11949954" cy="5728157"/>
        </p:xfrm>
        <a:graphic>
          <a:graphicData uri="http://schemas.openxmlformats.org/drawingml/2006/table">
            <a:tbl>
              <a:tblPr/>
              <a:tblGrid>
                <a:gridCol w="695247">
                  <a:extLst>
                    <a:ext uri="{9D8B030D-6E8A-4147-A177-3AD203B41FA5}">
                      <a16:colId xmlns:a16="http://schemas.microsoft.com/office/drawing/2014/main" val="1790774618"/>
                    </a:ext>
                  </a:extLst>
                </a:gridCol>
                <a:gridCol w="1976235">
                  <a:extLst>
                    <a:ext uri="{9D8B030D-6E8A-4147-A177-3AD203B41FA5}">
                      <a16:colId xmlns:a16="http://schemas.microsoft.com/office/drawing/2014/main" val="1333394412"/>
                    </a:ext>
                  </a:extLst>
                </a:gridCol>
                <a:gridCol w="2572871">
                  <a:extLst>
                    <a:ext uri="{9D8B030D-6E8A-4147-A177-3AD203B41FA5}">
                      <a16:colId xmlns:a16="http://schemas.microsoft.com/office/drawing/2014/main" val="2725276989"/>
                    </a:ext>
                  </a:extLst>
                </a:gridCol>
                <a:gridCol w="3182471">
                  <a:extLst>
                    <a:ext uri="{9D8B030D-6E8A-4147-A177-3AD203B41FA5}">
                      <a16:colId xmlns:a16="http://schemas.microsoft.com/office/drawing/2014/main" val="841216576"/>
                    </a:ext>
                  </a:extLst>
                </a:gridCol>
                <a:gridCol w="2196352">
                  <a:extLst>
                    <a:ext uri="{9D8B030D-6E8A-4147-A177-3AD203B41FA5}">
                      <a16:colId xmlns:a16="http://schemas.microsoft.com/office/drawing/2014/main" val="178687111"/>
                    </a:ext>
                  </a:extLst>
                </a:gridCol>
                <a:gridCol w="672353">
                  <a:extLst>
                    <a:ext uri="{9D8B030D-6E8A-4147-A177-3AD203B41FA5}">
                      <a16:colId xmlns:a16="http://schemas.microsoft.com/office/drawing/2014/main" val="1527476217"/>
                    </a:ext>
                  </a:extLst>
                </a:gridCol>
                <a:gridCol w="654425">
                  <a:extLst>
                    <a:ext uri="{9D8B030D-6E8A-4147-A177-3AD203B41FA5}">
                      <a16:colId xmlns:a16="http://schemas.microsoft.com/office/drawing/2014/main" val="3917306024"/>
                    </a:ext>
                  </a:extLst>
                </a:gridCol>
              </a:tblGrid>
              <a:tr h="631037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200" b="1" dirty="0" smtClean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問題描述 </a:t>
                      </a:r>
                      <a:endParaRPr lang="en-US" altLang="zh-CN" sz="1200" b="1" dirty="0" smtClean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(5W2H)</a:t>
                      </a:r>
                      <a:endParaRPr lang="zh-TW" altLang="en-US" sz="12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marL="121904" marR="121904" marT="60974" marB="609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Containment Action &amp;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Risk Assessment</a:t>
                      </a:r>
                    </a:p>
                  </a:txBody>
                  <a:tcPr marL="121904" marR="121904" marT="60974" marB="609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(Root</a:t>
                      </a:r>
                      <a:r>
                        <a:rPr lang="en-US" altLang="zh-CN" sz="1200" b="1" i="0" u="none" strike="noStrike" baseline="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 cause</a:t>
                      </a:r>
                      <a:r>
                        <a:rPr lang="en-US" altLang="zh-CN" sz="12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)</a:t>
                      </a:r>
                      <a:endParaRPr lang="en-US" altLang="zh-TW" sz="1200" b="1" i="0" u="none" strike="noStrike" dirty="0" smtClean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marL="121904" marR="121904" marT="60974" marB="609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(Corrective</a:t>
                      </a:r>
                      <a:r>
                        <a:rPr lang="en-US" altLang="zh-CN" sz="1200" b="1" i="0" u="none" strike="noStrike" baseline="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 action</a:t>
                      </a:r>
                      <a:r>
                        <a:rPr lang="en-US" altLang="zh-CN" sz="12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)</a:t>
                      </a:r>
                      <a:endParaRPr lang="en-US" altLang="zh-TW" sz="1200" b="1" i="0" u="none" strike="noStrike" dirty="0" smtClean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marL="121904" marR="121904" marT="60974" marB="609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DRI</a:t>
                      </a:r>
                    </a:p>
                  </a:txBody>
                  <a:tcPr marL="121904" marR="121904" marT="60974" marB="609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Status</a:t>
                      </a:r>
                    </a:p>
                  </a:txBody>
                  <a:tcPr marL="121904" marR="121904" marT="60974" marB="609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7485469"/>
                  </a:ext>
                </a:extLst>
              </a:tr>
              <a:tr h="344188">
                <a:tc>
                  <a:txBody>
                    <a:bodyPr/>
                    <a:lstStyle>
                      <a:lvl1pPr defTabSz="912813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912813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912813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912813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912813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912813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912813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912813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912813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281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When</a:t>
                      </a:r>
                    </a:p>
                    <a:p>
                      <a:pPr marL="0" marR="0" lvl="0" indent="0" algn="ctr" defTabSz="91281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何時</a:t>
                      </a:r>
                      <a:endParaRPr kumimoji="0" lang="en-US" altLang="zh-TW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>
                      <a:lvl1pPr indent="93663" defTabSz="912813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912813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912813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912813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912813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912813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912813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912813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912813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altLang="zh-TW" sz="1200" baseline="0" dirty="0" smtClean="0">
                          <a:solidFill>
                            <a:prstClr val="black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19/May/2026 10:20 AM</a:t>
                      </a:r>
                      <a:endParaRPr lang="en-US" altLang="zh-TW" sz="1200" dirty="0">
                        <a:solidFill>
                          <a:prstClr val="black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 rowSpan="9"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v"/>
                      </a:pPr>
                      <a:r>
                        <a:rPr lang="en-US" sz="1200" b="1" i="0" u="sng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Containment Action: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b="0" i="0" kern="1200" dirty="0" smtClean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1. Do not pass to FG.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b="0" i="0" kern="1200" dirty="0" smtClean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2. SI arrange Ops to sorting test OBA1 1000pcs at OBA station 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b="0" i="0" kern="1200" smtClean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DRI:SI/ A Tung</a:t>
                      </a:r>
                      <a:r>
                        <a:rPr lang="en-US" sz="1200" b="0" i="0" kern="1200" dirty="0" smtClean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     DD:05/21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b="0" i="0" kern="1200" dirty="0" smtClean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3. </a:t>
                      </a:r>
                      <a:r>
                        <a:rPr lang="en-US" sz="1200" b="0" i="0" kern="1200" smtClean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PQA </a:t>
                      </a:r>
                      <a:r>
                        <a:rPr lang="en-US" sz="1200" b="0" i="0" kern="1200" smtClean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please </a:t>
                      </a:r>
                      <a:r>
                        <a:rPr lang="en-US" sz="1200" b="0" i="0" kern="1200" dirty="0" smtClean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increase - OBA2 rate to maximum capacity before having other sorting methods. 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b="0" i="0" kern="1200" smtClean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DRI:Oanh/A</a:t>
                      </a:r>
                      <a:r>
                        <a:rPr lang="en-US" sz="1200" b="0" i="0" kern="1200" baseline="0" smtClean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 Thuong</a:t>
                      </a:r>
                      <a:r>
                        <a:rPr lang="en-US" sz="1200" b="0" i="0" kern="1200" dirty="0" smtClean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     DD:05/21</a:t>
                      </a:r>
                      <a:endParaRPr lang="en-US" sz="1200" b="1" i="0" u="none" strike="noStrike" kern="1200" dirty="0" smtClean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Malgun Gothic" panose="020B0503020000020004" pitchFamily="34" charset="-127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endParaRPr lang="en-US" sz="1200" b="1" dirty="0" smtClean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171450" indent="-171450">
                        <a:buFont typeface="Wingdings" panose="05000000000000000000" pitchFamily="2" charset="2"/>
                        <a:buChar char="v"/>
                      </a:pPr>
                      <a:r>
                        <a:rPr lang="en-US" sz="1200" b="1" i="0" u="sng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Risk assessment: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 rowSpan="9"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kumimoji="0" lang="en-US" altLang="zh-CN" sz="1200" b="1" i="0" u="sng" strike="noStrike" kern="1200" cap="none" normalizeH="0" baseline="0" noProof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Root cause: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Light </a:t>
                      </a:r>
                      <a:r>
                        <a:rPr kumimoji="0" lang="en-US" altLang="zh-CN" sz="12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Fixture </a:t>
                      </a:r>
                      <a:r>
                        <a:rPr kumimoji="0" lang="en-US" altLang="zh-CN" sz="12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abnormal</a:t>
                      </a:r>
                      <a:endParaRPr kumimoji="0" lang="en-US" altLang="zh-CN" sz="12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Malgun Gothic" panose="020B0503020000020004" pitchFamily="34" charset="-127"/>
                        <a:cs typeface="Calibri" panose="020F0502020204030204" pitchFamily="34" charset="0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200" b="0" i="0" u="sng" strike="noStrike" kern="1200" cap="none" normalizeH="0" baseline="0" noProof="1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Wingdings" panose="05000000000000000000" pitchFamily="2" charset="2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</a:pPr>
                      <a:r>
                        <a:rPr kumimoji="0" lang="en-US" altLang="zh-CN" sz="1200" b="1" i="0" u="sng" strike="noStrike" kern="1200" cap="none" normalizeH="0" baseline="0" noProof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PE analysis: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kern="1200" cap="none" normalizeH="0" baseline="0" noProof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1. Took </a:t>
                      </a:r>
                      <a:r>
                        <a:rPr kumimoji="0" lang="en-US" altLang="zh-CN" sz="1200" b="0" i="0" u="none" strike="noStrike" kern="1200" cap="none" normalizeH="0" baseline="0" noProof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devices NG retest 3 times at OBA station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à"/>
                        <a:tabLst/>
                      </a:pPr>
                      <a:r>
                        <a:rPr kumimoji="0" lang="en-US" altLang="zh-CN" sz="1200" b="0" i="0" u="none" strike="noStrike" kern="1200" cap="none" normalizeH="0" baseline="0" noProof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Devices have stil </a:t>
                      </a:r>
                      <a:r>
                        <a:rPr kumimoji="0" lang="en-US" altLang="zh-CN" sz="1200" b="0" i="0" u="none" strike="noStrike" kern="1200" cap="none" normalizeH="0" baseline="0" noProof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fail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1200" b="0" i="0" u="none" strike="noStrike" kern="1200" cap="none" normalizeH="0" baseline="0" noProof="1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kern="1200" cap="none" normalizeH="0" baseline="0" noProof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2. Check </a:t>
                      </a:r>
                      <a:r>
                        <a:rPr kumimoji="0" lang="en-US" altLang="zh-CN" sz="1200" b="0" i="0" u="none" strike="noStrike" kern="1200" cap="none" normalizeH="0" baseline="0" noProof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history data of devices NG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à"/>
                        <a:tabLst/>
                      </a:pPr>
                      <a:r>
                        <a:rPr kumimoji="0" lang="en-US" altLang="zh-CN" sz="1200" b="0" i="0" u="none" strike="noStrike" kern="1200" cap="none" normalizeH="0" baseline="0" noProof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No abnormality found ( No R</a:t>
                      </a:r>
                      <a:r>
                        <a:rPr kumimoji="0" lang="en-US" altLang="zh-CN" sz="1200" b="0" i="0" u="none" strike="noStrike" kern="1200" cap="none" normalizeH="0" baseline="0" noProof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_ history </a:t>
                      </a:r>
                      <a:r>
                        <a:rPr kumimoji="0" lang="en-US" altLang="zh-CN" sz="1200" b="0" i="0" u="none" strike="noStrike" kern="1200" cap="none" normalizeH="0" baseline="0" noProof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, No </a:t>
                      </a:r>
                      <a:r>
                        <a:rPr kumimoji="0" lang="en-US" altLang="zh-CN" sz="1200" b="0" i="0" u="none" strike="noStrike" kern="1200" cap="none" normalizeH="0" baseline="0" noProof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repair history)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1200" b="0" i="0" u="none" strike="noStrike" kern="1200" cap="none" normalizeH="0" baseline="0" noProof="1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normalizeH="0" baseline="0" noProof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3. Dis-assemble </a:t>
                      </a:r>
                      <a:r>
                        <a:rPr kumimoji="0" lang="en-US" altLang="zh-CN" sz="1200" b="0" i="0" u="none" strike="noStrike" kern="1200" cap="none" normalizeH="0" baseline="0" noProof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bottom cover of light fixture and inspection 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à"/>
                        <a:tabLst/>
                        <a:defRPr/>
                      </a:pPr>
                      <a:r>
                        <a:rPr kumimoji="0" lang="en-US" altLang="zh-CN" sz="1200" b="0" i="0" u="none" strike="noStrike" kern="1200" cap="none" normalizeH="0" baseline="0" noProof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There’s no any </a:t>
                      </a:r>
                      <a:r>
                        <a:rPr kumimoji="0" lang="en-US" altLang="zh-CN" sz="1200" b="0" i="0" u="none" strike="noStrike" kern="1200" cap="none" normalizeH="0" baseline="0" noProof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abnormal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zh-CN" sz="1200" b="0" i="0" u="none" strike="noStrike" kern="1200" cap="none" normalizeH="0" baseline="0" noProof="1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Malgun Gothic" panose="020B0503020000020004" pitchFamily="34" charset="-127"/>
                        <a:cs typeface="Calibri" panose="020F0502020204030204" pitchFamily="34" charset="0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normalizeH="0" baseline="0" noProof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4</a:t>
                      </a:r>
                      <a:r>
                        <a:rPr kumimoji="0" lang="en-US" altLang="zh-CN" sz="1200" b="0" i="0" u="none" strike="noStrike" kern="1200" cap="none" normalizeH="0" baseline="0" noProof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. Swap light fixture for </a:t>
                      </a:r>
                      <a:r>
                        <a:rPr kumimoji="0" lang="en-US" altLang="zh-CN" sz="1200" b="0" i="0" u="none" strike="noStrike" kern="1200" cap="none" normalizeH="0" baseline="0" noProof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confirm phenomenon </a:t>
                      </a:r>
                      <a:endParaRPr kumimoji="0" lang="en-US" altLang="zh-CN" sz="1200" b="0" i="0" u="none" strike="noStrike" kern="1200" cap="none" normalizeH="0" baseline="0" noProof="1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Malgun Gothic" panose="020B0503020000020004" pitchFamily="34" charset="-127"/>
                        <a:cs typeface="Calibri" panose="020F0502020204030204" pitchFamily="34" charset="0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normalizeH="0" baseline="0" noProof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Device test Pass after swap Light </a:t>
                      </a:r>
                      <a:r>
                        <a:rPr kumimoji="0" lang="en-US" altLang="zh-CN" sz="1200" b="0" i="0" u="none" strike="noStrike" kern="1200" cap="none" normalizeH="0" baseline="0" noProof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fixture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zh-CN" sz="1200" b="0" i="0" u="none" strike="noStrike" kern="1200" cap="none" normalizeH="0" baseline="0" noProof="1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Malgun Gothic" panose="020B0503020000020004" pitchFamily="34" charset="-127"/>
                        <a:cs typeface="Calibri" panose="020F0502020204030204" pitchFamily="34" charset="0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normalizeH="0" baseline="0" noProof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5</a:t>
                      </a:r>
                      <a:r>
                        <a:rPr kumimoji="0" lang="en-US" altLang="zh-CN" sz="1200" b="0" i="0" u="none" strike="noStrike" kern="1200" cap="none" normalizeH="0" baseline="0" noProof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. Taking NG Light fixture, provide power for checking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normalizeH="0" baseline="0" noProof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 The light fixture test </a:t>
                      </a:r>
                      <a:r>
                        <a:rPr kumimoji="0" lang="en-US" altLang="zh-CN" sz="1200" b="0" i="0" u="none" strike="noStrike" kern="1200" cap="none" normalizeH="0" baseline="0" noProof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failed </a:t>
                      </a:r>
                      <a:r>
                        <a:rPr kumimoji="0" lang="en-US" altLang="zh-CN" sz="1200" b="0" i="0" u="none" strike="noStrike" kern="1200" cap="none" normalizeH="0" baseline="0" noProof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(cannot boot up)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1200" b="0" i="0" u="none" strike="noStrike" kern="1200" cap="none" normalizeH="0" baseline="0" noProof="1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Wingdings" panose="05000000000000000000" pitchFamily="2" charset="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 rowSpan="9"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</a:pPr>
                      <a:r>
                        <a:rPr lang="en-US" altLang="zh-TW" sz="1200" b="1" u="sng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+mn-ea"/>
                        </a:rPr>
                        <a:t>Cause</a:t>
                      </a:r>
                      <a:r>
                        <a:rPr lang="en-US" altLang="zh-TW" sz="1200" b="1" u="sng" baseline="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+mn-ea"/>
                        </a:rPr>
                        <a:t> </a:t>
                      </a:r>
                      <a:r>
                        <a:rPr lang="en-US" altLang="zh-TW" sz="1200" b="1" u="sng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+mn-ea"/>
                        </a:rPr>
                        <a:t>Correct Action: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Send NG Light fixture to vendor analysis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- Material code : 55-0035771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DRI: SQE/ Vic   </a:t>
                      </a:r>
                      <a:r>
                        <a:rPr lang="en-US" sz="1200" b="0" i="0" kern="1200" smtClean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DD:06/10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2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en-US" altLang="zh-TW" sz="1200" b="1" u="sng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+mn-ea"/>
                        </a:rPr>
                        <a:t>Escape Correct Action: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1. </a:t>
                      </a:r>
                      <a:r>
                        <a:rPr kumimoji="0" lang="en-US" altLang="zh-CN" sz="12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TE set up program, SI proceed sorting 1000pcs light fixture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DRI: </a:t>
                      </a:r>
                      <a:r>
                        <a:rPr kumimoji="0" lang="en-US" altLang="zh-CN" sz="12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TE_Ashan</a:t>
                      </a:r>
                      <a:r>
                        <a:rPr kumimoji="0" lang="en-US" altLang="zh-CN" sz="12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/ SI_A </a:t>
                      </a:r>
                      <a:r>
                        <a:rPr kumimoji="0" lang="en-US" altLang="zh-CN" sz="12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bei</a:t>
                      </a:r>
                      <a:r>
                        <a:rPr kumimoji="0" lang="en-US" altLang="zh-CN" sz="12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   </a:t>
                      </a:r>
                      <a:r>
                        <a:rPr lang="en-US" sz="1200" b="0" i="0" kern="1200" dirty="0" smtClean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DD:05/21</a:t>
                      </a:r>
                      <a:endParaRPr kumimoji="0" lang="en-US" altLang="zh-CN" sz="12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Malgun Gothic" panose="020B0503020000020004" pitchFamily="34" charset="-127"/>
                        <a:cs typeface="Calibri" panose="020F0502020204030204" pitchFamily="34" charset="0"/>
                      </a:endParaRPr>
                    </a:p>
                    <a:p>
                      <a:pPr marL="4572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3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PE/SQE</a:t>
                      </a:r>
                      <a:endParaRPr 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On-going</a:t>
                      </a:r>
                      <a:endParaRPr 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642208"/>
                  </a:ext>
                </a:extLst>
              </a:tr>
              <a:tr h="344188">
                <a:tc>
                  <a:txBody>
                    <a:bodyPr/>
                    <a:lstStyle>
                      <a:lvl1pPr defTabSz="912813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912813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912813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912813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912813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912813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912813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912813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912813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281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Who</a:t>
                      </a:r>
                    </a:p>
                    <a:p>
                      <a:pPr marL="0" marR="0" lvl="0" indent="0" algn="ctr" defTabSz="91281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何人</a:t>
                      </a:r>
                      <a:endParaRPr kumimoji="0" lang="en-US" altLang="zh-TW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>
                      <a:lvl1pPr indent="93663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936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OBA1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526392"/>
                  </a:ext>
                </a:extLst>
              </a:tr>
              <a:tr h="344188">
                <a:tc>
                  <a:txBody>
                    <a:bodyPr/>
                    <a:lstStyle>
                      <a:lvl1pPr defTabSz="912813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912813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912813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912813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912813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912813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912813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912813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912813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281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Where</a:t>
                      </a:r>
                    </a:p>
                    <a:p>
                      <a:pPr marL="0" marR="0" lvl="0" indent="0" algn="ctr" defTabSz="91281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何地</a:t>
                      </a:r>
                      <a:endParaRPr kumimoji="0" lang="en-US" altLang="zh-TW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>
                      <a:lvl1pPr indent="93663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algn="l"/>
                      <a:r>
                        <a:rPr lang="en-US" altLang="zh-CN" sz="12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B84L3P1</a:t>
                      </a:r>
                      <a:endParaRPr lang="en-US" altLang="zh-CN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195829"/>
                  </a:ext>
                </a:extLst>
              </a:tr>
              <a:tr h="631037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W</a:t>
                      </a:r>
                      <a:r>
                        <a:rPr kumimoji="0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hat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何事</a:t>
                      </a:r>
                      <a:endParaRPr kumimoji="0" lang="zh-TW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marL="121904" marR="121904" marT="60974" marB="6097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>
                      <a:lvl1pPr defTabSz="912813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912813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912813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912813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912813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912813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912813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912813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912813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CN" sz="1200" dirty="0" smtClean="0">
                          <a:latin typeface="Calibri" panose="020F0502020204030204" pitchFamily="34" charset="0"/>
                          <a:ea typeface="SimSun" pitchFamily="2" charset="-122"/>
                          <a:cs typeface="Calibri" panose="020F0502020204030204" pitchFamily="34" charset="0"/>
                        </a:rPr>
                        <a:t>Project:</a:t>
                      </a:r>
                      <a:r>
                        <a:rPr lang="en-US" altLang="zh-CN" sz="1200" baseline="0" dirty="0" smtClean="0">
                          <a:latin typeface="Calibri" panose="020F0502020204030204" pitchFamily="34" charset="0"/>
                          <a:ea typeface="SimSun" pitchFamily="2" charset="-122"/>
                          <a:cs typeface="Calibri" panose="020F0502020204030204" pitchFamily="34" charset="0"/>
                        </a:rPr>
                        <a:t> Goldfish</a:t>
                      </a:r>
                      <a:endParaRPr lang="en-US" altLang="zh-CN" sz="1200" dirty="0" smtClean="0">
                        <a:latin typeface="Calibri" panose="020F0502020204030204" pitchFamily="34" charset="0"/>
                        <a:ea typeface="SimSun" pitchFamily="2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CN" sz="12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Model:</a:t>
                      </a:r>
                      <a:r>
                        <a:rPr lang="en-US" altLang="zh-CN" sz="1200" baseline="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U73J041.03</a:t>
                      </a:r>
                      <a:endParaRPr lang="en-US" altLang="zh-CN" sz="1200" kern="1200" dirty="0" smtClean="0">
                        <a:solidFill>
                          <a:prstClr val="black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sz="1200" baseline="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DSN: GT51J521618300WK</a:t>
                      </a:r>
                      <a:endParaRPr lang="en-US" altLang="zh-CN" sz="1200" kern="1200" dirty="0" smtClean="0">
                        <a:solidFill>
                          <a:prstClr val="black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04" marR="121904" marT="60974" marB="6097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0292254"/>
                  </a:ext>
                </a:extLst>
              </a:tr>
              <a:tr h="458943">
                <a:tc>
                  <a:txBody>
                    <a:bodyPr/>
                    <a:lstStyle>
                      <a:lvl1pPr defTabSz="912813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912813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912813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912813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912813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912813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912813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912813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912813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W</a:t>
                      </a:r>
                      <a:r>
                        <a:rPr kumimoji="0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hy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為何</a:t>
                      </a:r>
                      <a:endParaRPr kumimoji="0" lang="zh-TW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marL="121904" marR="121904" marT="60974" marB="6097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>
                      <a:lvl1pPr defTabSz="912813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912813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912813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912813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912813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912813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912813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912813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912813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CN" sz="1200" dirty="0" err="1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Can not</a:t>
                      </a:r>
                      <a:r>
                        <a:rPr lang="en-US" altLang="zh-CN" sz="12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boot up the device</a:t>
                      </a:r>
                    </a:p>
                  </a:txBody>
                  <a:tcPr marL="121904" marR="121904" marT="60974" marB="6097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56583"/>
                  </a:ext>
                </a:extLst>
              </a:tr>
              <a:tr h="54639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How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怎樣</a:t>
                      </a:r>
                      <a:endParaRPr kumimoji="0" lang="en-US" altLang="zh-TW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marL="121904" marR="121904" marT="60974" marB="6097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>
                      <a:lvl1pPr defTabSz="912813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912813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912813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912813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912813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912813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912813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912813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912813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sz="1200" b="0" i="0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During OBA testing,</a:t>
                      </a:r>
                      <a:r>
                        <a:rPr lang="en-US" altLang="zh-TW" sz="12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t</a:t>
                      </a:r>
                      <a:r>
                        <a:rPr lang="en-US" altLang="zh-TW" sz="1200" b="0" i="0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he OBA staff found that when</a:t>
                      </a:r>
                      <a:r>
                        <a:rPr lang="en-US" altLang="zh-TW" sz="12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CN" sz="12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device</a:t>
                      </a:r>
                      <a:r>
                        <a:rPr lang="en-US" altLang="zh-TW" sz="12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TW" sz="1200" b="0" i="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can not</a:t>
                      </a:r>
                      <a:r>
                        <a:rPr lang="en-US" altLang="zh-TW" sz="12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boot up</a:t>
                      </a:r>
                      <a:endParaRPr lang="en-US" altLang="zh-CN" sz="1200" dirty="0" smtClean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04" marR="121904" marT="60974" marB="6097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0007817"/>
                  </a:ext>
                </a:extLst>
              </a:tr>
              <a:tr h="631037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How many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多少</a:t>
                      </a:r>
                      <a:endParaRPr kumimoji="0" lang="en-US" altLang="zh-TW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marL="121904" marR="121904" marT="60974" marB="6097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200" dirty="0" smtClean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1F</a:t>
                      </a:r>
                      <a:endParaRPr lang="en-US" altLang="zh-CN" sz="1200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ea typeface="SimSu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121904" marR="121904" marT="60974" marB="6097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8907234"/>
                  </a:ext>
                </a:extLst>
              </a:tr>
              <a:tr h="336004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QA</a:t>
                      </a:r>
                      <a:endParaRPr kumimoji="0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marL="121904" marR="121904" marT="60974" marB="6097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OBA1</a:t>
                      </a:r>
                    </a:p>
                  </a:txBody>
                  <a:tcPr marL="121904" marR="121904" marT="60974" marB="6097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16472"/>
                  </a:ext>
                </a:extLst>
              </a:tr>
              <a:tr h="11473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Picture</a:t>
                      </a:r>
                    </a:p>
                  </a:txBody>
                  <a:tcPr marL="121904" marR="121904" marT="60974" marB="6097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marL="121904" marR="121904" marT="60974" marB="6097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200" b="1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微軟正黑體" panose="020B0604030504040204" pitchFamily="34" charset="-12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100" b="0" i="0" u="none" strike="noStrike" kern="1200" cap="none" normalizeH="0" baseline="0" noProof="1" smtClean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latin typeface="Calibri" pitchFamily="34" charset="0"/>
                        <a:ea typeface="+mn-ea"/>
                        <a:cs typeface="Calibri" pitchFamily="34" charset="0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latin typeface="Calibri" pitchFamily="34" charset="0"/>
                        <a:ea typeface="+mn-ea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1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338885"/>
                  </a:ext>
                </a:extLst>
              </a:tr>
            </a:tbl>
          </a:graphicData>
        </a:graphic>
      </p:graphicFrame>
      <p:sp>
        <p:nvSpPr>
          <p:cNvPr id="7" name="标题 1"/>
          <p:cNvSpPr txBox="1">
            <a:spLocks/>
          </p:cNvSpPr>
          <p:nvPr/>
        </p:nvSpPr>
        <p:spPr>
          <a:xfrm>
            <a:off x="1060528" y="413698"/>
            <a:ext cx="11455243" cy="48311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  <a:defRPr/>
            </a:pPr>
            <a:r>
              <a:rPr lang="en-US" altLang="zh-CN" sz="2600" dirty="0" smtClean="0">
                <a:solidFill>
                  <a:srgbClr val="002F75"/>
                </a:solidFill>
                <a:cs typeface="Arial" panose="020B0604020202020204" pitchFamily="34" charset="0"/>
              </a:rPr>
              <a:t>OBA issue : Device can not boot up</a:t>
            </a:r>
            <a:endParaRPr lang="en-US" altLang="zh-CN" sz="2600" dirty="0">
              <a:solidFill>
                <a:srgbClr val="002F75"/>
              </a:solidFill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528" y="5428286"/>
            <a:ext cx="1152424" cy="1134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67681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jgwYTcyMWZjMWI3NDZiYzEyNTk1MjVjNjNjMGYwOG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lang="en-US" altLang="zh-CN" sz="1200"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4ccf059-af5d-4b92-932d-3690a1231c55}" enabled="1" method="Standard" siteId="{cb3d8dcd-2ed2-4bad-89a5-e0a7195fb64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302</Words>
  <Application>Microsoft Office PowerPoint</Application>
  <PresentationFormat>Widescreen</PresentationFormat>
  <Paragraphs>76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7" baseType="lpstr">
      <vt:lpstr>等线</vt:lpstr>
      <vt:lpstr>Inter Black</vt:lpstr>
      <vt:lpstr>Malgun Gothic</vt:lpstr>
      <vt:lpstr>微軟正黑體</vt:lpstr>
      <vt:lpstr>微软雅黑</vt:lpstr>
      <vt:lpstr>新細明體</vt:lpstr>
      <vt:lpstr>黑体</vt:lpstr>
      <vt:lpstr>宋体</vt:lpstr>
      <vt:lpstr>宋体</vt:lpstr>
      <vt:lpstr>思源黑体 CN Heavy</vt:lpstr>
      <vt:lpstr>思源黑体 CN Normal</vt:lpstr>
      <vt:lpstr>Arial</vt:lpstr>
      <vt:lpstr>Arial Black</vt:lpstr>
      <vt:lpstr>Calibri</vt:lpstr>
      <vt:lpstr>Wingdings</vt:lpstr>
      <vt:lpstr>Office 主题​​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ZMY</dc:creator>
  <cp:lastModifiedBy>張文泰</cp:lastModifiedBy>
  <cp:revision>450</cp:revision>
  <dcterms:created xsi:type="dcterms:W3CDTF">2022-05-19T09:53:00Z</dcterms:created>
  <dcterms:modified xsi:type="dcterms:W3CDTF">2026-05-19T08:19:35Z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7B54E248D5E74C45B50FC95368D550F8_12</vt:lpwstr>
  </property>
  <property fmtid="{D5CDD505-2E9C-101B-9397-08002B2CF9AE}" pid="3" name="KSOProductBuildVer">
    <vt:lpwstr>2052-12.1.0.16250</vt:lpwstr>
  </property>
</Properties>
</file>